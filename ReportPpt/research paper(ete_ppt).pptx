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69" r:id="rId6"/>
    <p:sldId id="285" r:id="rId7"/>
    <p:sldId id="283" r:id="rId8"/>
    <p:sldId id="272" r:id="rId9"/>
    <p:sldId id="278" r:id="rId10"/>
    <p:sldId id="274" r:id="rId11"/>
    <p:sldId id="281" r:id="rId12"/>
    <p:sldId id="268" r:id="rId13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8" d="100"/>
          <a:sy n="58" d="100"/>
        </p:scale>
        <p:origin x="1520" y="80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you improve chatbot capabilities to enhance conversational AI?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IN" alt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Simran Kaur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       :    2210990</a:t>
            </a:r>
            <a:r>
              <a:rPr lang="en-IN" alt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852</a:t>
            </a:r>
            <a:endParaRPr lang="en-IN" alt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By: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</a:t>
            </a:r>
            <a:r>
              <a:rPr lang="en-IN" altLang="en-US" sz="2000" b="1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Gurpreet Singh</a:t>
            </a:r>
            <a:endParaRPr lang="en-US" sz="2000" b="1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08094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" y="853476"/>
            <a:ext cx="8996550" cy="526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transformation has increased the use of conversational interfaces in modern applications.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 are widely used in customer support, healthcare, e-commerce, and virtual assistance..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chatbots rely on predefined rules and struggle with dynamic user queries.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They often fail in intent recognition, context retention, and multi-turn conversations.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Modern NLP techniques and transformer models such as BERT and GPT improve chatbot intelligence.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 enables chatbots to understand user emotions and generate personalized responses.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88087" cy="914040"/>
          </a:xfrm>
        </p:spPr>
        <p:txBody>
          <a:bodyPr/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851270"/>
            <a:ext cx="9055865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rule-based chatbots struggle to handle ambiguous and dynamic user queries.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often fail to preserve conversation context in multi-turn interactions.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sentiment understanding reduces personalization and user satisfaction.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chatbot systems generate irrelevant or inconsistent responses.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integrates NLP, transformer models, and sentiment analysis to improve chatbot performance.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include improving intent recognition, context awareness, response accuracy, and conversational continuity.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7110" y="0"/>
            <a:ext cx="5661660" cy="913765"/>
          </a:xfrm>
        </p:spPr>
        <p:txBody>
          <a:bodyPr/>
          <a:p>
            <a:r>
              <a:rPr lang="en-IN" altLang="en-US"/>
              <a:t>Tools and Technology</a:t>
            </a:r>
            <a:endParaRPr lang="en-IN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/>
          </p:nvPr>
        </p:nvSpPr>
        <p:spPr>
          <a:xfrm>
            <a:off x="457200" y="1448435"/>
            <a:ext cx="8228965" cy="5223510"/>
          </a:xfrm>
        </p:spPr>
        <p:txBody>
          <a:bodyPr/>
          <a:p>
            <a:r>
              <a:rPr lang="en-US" altLang="en-US"/>
              <a:t>Programming Language: Python</a:t>
            </a:r>
            <a:endParaRPr lang="en-US" altLang="en-US"/>
          </a:p>
          <a:p>
            <a:r>
              <a:rPr lang="en-US" altLang="en-US"/>
              <a:t>Framework: Flask</a:t>
            </a:r>
            <a:endParaRPr lang="en-US" altLang="en-US"/>
          </a:p>
          <a:p>
            <a:r>
              <a:rPr lang="en-US" altLang="en-US"/>
              <a:t>Frontend Technologies: HTML, CSS, JavaScript</a:t>
            </a:r>
            <a:endParaRPr lang="en-US" altLang="en-US"/>
          </a:p>
          <a:p>
            <a:r>
              <a:rPr lang="en-US" altLang="en-US"/>
              <a:t>Natural Language Processing: TextBlob, NLTK</a:t>
            </a:r>
            <a:endParaRPr lang="en-US" altLang="en-US"/>
          </a:p>
          <a:p>
            <a:r>
              <a:rPr lang="en-US" altLang="en-US"/>
              <a:t>Transformer Model: Hugging Face Transformers (FLAN-T5)</a:t>
            </a:r>
            <a:endParaRPr lang="en-US" altLang="en-US"/>
          </a:p>
          <a:p>
            <a:r>
              <a:rPr lang="en-US" altLang="en-US"/>
              <a:t>Machine Learning Library: PyTorch</a:t>
            </a:r>
            <a:endParaRPr lang="en-US" altLang="en-US"/>
          </a:p>
          <a:p>
            <a:r>
              <a:rPr lang="en-US" altLang="en-US"/>
              <a:t>Data Storage: JSON for structured logging</a:t>
            </a:r>
            <a:endParaRPr lang="en-US" altLang="en-US"/>
          </a:p>
          <a:p>
            <a:r>
              <a:rPr lang="en-US" altLang="en-US"/>
              <a:t>Development Environment: Visual Studio Code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对象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US"/>
          </a:p>
        </p:txBody>
      </p:sp>
      <p:sp>
        <p:nvSpPr>
          <p:cNvPr id="2" name="对象11"/>
          <p:cNvSpPr/>
          <p:nvPr>
            <p:custDataLst>
              <p:tags r:id="rId2"/>
            </p:custDataLst>
          </p:nvPr>
        </p:nvSpPr>
        <p:spPr>
          <a:xfrm>
            <a:off x="3833813" y="3190399"/>
            <a:ext cx="1282446" cy="1282446"/>
          </a:xfrm>
          <a:custGeom>
            <a:avLst/>
            <a:gdLst/>
            <a:ahLst/>
            <a:cxnLst/>
            <a:rect l="l" t="t" r="r" b="b"/>
            <a:pathLst>
              <a:path w="1709928" h="1709928">
                <a:moveTo>
                  <a:pt x="822960" y="0"/>
                </a:moveTo>
                <a:cubicBezTo>
                  <a:pt x="832104" y="0"/>
                  <a:pt x="841248" y="0"/>
                  <a:pt x="859536" y="0"/>
                </a:cubicBezTo>
                <a:cubicBezTo>
                  <a:pt x="868680" y="0"/>
                  <a:pt x="877824" y="0"/>
                  <a:pt x="886968" y="0"/>
                </a:cubicBezTo>
                <a:lnTo>
                  <a:pt x="886968" y="9144"/>
                </a:lnTo>
                <a:cubicBezTo>
                  <a:pt x="877824" y="9144"/>
                  <a:pt x="868680" y="9144"/>
                  <a:pt x="859536" y="9144"/>
                </a:cubicBezTo>
                <a:cubicBezTo>
                  <a:pt x="841248" y="9144"/>
                  <a:pt x="832104" y="9144"/>
                  <a:pt x="822960" y="9144"/>
                </a:cubicBezTo>
                <a:lnTo>
                  <a:pt x="822960" y="0"/>
                </a:lnTo>
                <a:moveTo>
                  <a:pt x="685800" y="18288"/>
                </a:moveTo>
                <a:cubicBezTo>
                  <a:pt x="713232" y="9144"/>
                  <a:pt x="731520" y="9144"/>
                  <a:pt x="758952" y="9144"/>
                </a:cubicBezTo>
                <a:lnTo>
                  <a:pt x="758952" y="18288"/>
                </a:lnTo>
                <a:cubicBezTo>
                  <a:pt x="731520" y="18288"/>
                  <a:pt x="713232" y="27432"/>
                  <a:pt x="694944" y="27432"/>
                </a:cubicBezTo>
                <a:lnTo>
                  <a:pt x="685800" y="18288"/>
                </a:lnTo>
                <a:moveTo>
                  <a:pt x="960120" y="9144"/>
                </a:moveTo>
                <a:cubicBezTo>
                  <a:pt x="978408" y="9144"/>
                  <a:pt x="1005840" y="9144"/>
                  <a:pt x="1024128" y="18288"/>
                </a:cubicBezTo>
                <a:lnTo>
                  <a:pt x="1024128" y="27432"/>
                </a:lnTo>
                <a:cubicBezTo>
                  <a:pt x="996696" y="27432"/>
                  <a:pt x="978408" y="18288"/>
                  <a:pt x="960120" y="18288"/>
                </a:cubicBezTo>
                <a:lnTo>
                  <a:pt x="960120" y="9144"/>
                </a:lnTo>
                <a:moveTo>
                  <a:pt x="557784" y="54864"/>
                </a:moveTo>
                <a:cubicBezTo>
                  <a:pt x="585216" y="45720"/>
                  <a:pt x="603504" y="36576"/>
                  <a:pt x="621792" y="27432"/>
                </a:cubicBezTo>
                <a:lnTo>
                  <a:pt x="630936" y="45720"/>
                </a:lnTo>
                <a:cubicBezTo>
                  <a:pt x="603504" y="45720"/>
                  <a:pt x="585216" y="54864"/>
                  <a:pt x="566928" y="64008"/>
                </a:cubicBezTo>
                <a:lnTo>
                  <a:pt x="557784" y="54864"/>
                </a:lnTo>
                <a:moveTo>
                  <a:pt x="1088136" y="27432"/>
                </a:moveTo>
                <a:cubicBezTo>
                  <a:pt x="1106424" y="36576"/>
                  <a:pt x="1133856" y="45720"/>
                  <a:pt x="1152144" y="54864"/>
                </a:cubicBezTo>
                <a:lnTo>
                  <a:pt x="1152144" y="64008"/>
                </a:lnTo>
                <a:cubicBezTo>
                  <a:pt x="1124712" y="54864"/>
                  <a:pt x="1106424" y="45720"/>
                  <a:pt x="1088136" y="45720"/>
                </a:cubicBezTo>
                <a:lnTo>
                  <a:pt x="1088136" y="27432"/>
                </a:lnTo>
                <a:moveTo>
                  <a:pt x="1216152" y="82296"/>
                </a:moveTo>
                <a:cubicBezTo>
                  <a:pt x="1234440" y="91440"/>
                  <a:pt x="1252728" y="100584"/>
                  <a:pt x="1271016" y="109728"/>
                </a:cubicBezTo>
                <a:lnTo>
                  <a:pt x="1271016" y="118872"/>
                </a:lnTo>
                <a:cubicBezTo>
                  <a:pt x="1252728" y="109728"/>
                  <a:pt x="1234440" y="100584"/>
                  <a:pt x="1207008" y="91440"/>
                </a:cubicBezTo>
                <a:lnTo>
                  <a:pt x="1216152" y="82296"/>
                </a:lnTo>
                <a:moveTo>
                  <a:pt x="438912" y="109728"/>
                </a:moveTo>
                <a:cubicBezTo>
                  <a:pt x="457200" y="100584"/>
                  <a:pt x="475488" y="91440"/>
                  <a:pt x="493776" y="82296"/>
                </a:cubicBezTo>
                <a:lnTo>
                  <a:pt x="502920" y="91440"/>
                </a:lnTo>
                <a:cubicBezTo>
                  <a:pt x="484632" y="100584"/>
                  <a:pt x="466344" y="109728"/>
                  <a:pt x="448056" y="118872"/>
                </a:cubicBezTo>
                <a:lnTo>
                  <a:pt x="438912" y="109728"/>
                </a:lnTo>
                <a:moveTo>
                  <a:pt x="1335024" y="146304"/>
                </a:moveTo>
                <a:cubicBezTo>
                  <a:pt x="1353312" y="155448"/>
                  <a:pt x="1371600" y="173736"/>
                  <a:pt x="1389888" y="182880"/>
                </a:cubicBezTo>
                <a:lnTo>
                  <a:pt x="1380744" y="192024"/>
                </a:lnTo>
                <a:cubicBezTo>
                  <a:pt x="1362456" y="182880"/>
                  <a:pt x="1344168" y="164592"/>
                  <a:pt x="1325880" y="155448"/>
                </a:cubicBezTo>
                <a:lnTo>
                  <a:pt x="1335024" y="146304"/>
                </a:lnTo>
                <a:moveTo>
                  <a:pt x="329184" y="182880"/>
                </a:moveTo>
                <a:cubicBezTo>
                  <a:pt x="347472" y="173736"/>
                  <a:pt x="365760" y="155448"/>
                  <a:pt x="384048" y="146304"/>
                </a:cubicBezTo>
                <a:lnTo>
                  <a:pt x="384048" y="155448"/>
                </a:lnTo>
                <a:cubicBezTo>
                  <a:pt x="365760" y="164592"/>
                  <a:pt x="347472" y="182880"/>
                  <a:pt x="329184" y="192024"/>
                </a:cubicBezTo>
                <a:lnTo>
                  <a:pt x="329184" y="182880"/>
                </a:lnTo>
                <a:moveTo>
                  <a:pt x="1435608" y="228600"/>
                </a:moveTo>
                <a:cubicBezTo>
                  <a:pt x="1453896" y="246888"/>
                  <a:pt x="1472184" y="256032"/>
                  <a:pt x="1481328" y="274320"/>
                </a:cubicBezTo>
                <a:lnTo>
                  <a:pt x="1481328" y="283464"/>
                </a:lnTo>
                <a:cubicBezTo>
                  <a:pt x="1463040" y="265176"/>
                  <a:pt x="1444752" y="246888"/>
                  <a:pt x="1426464" y="237744"/>
                </a:cubicBezTo>
                <a:lnTo>
                  <a:pt x="1435608" y="228600"/>
                </a:lnTo>
                <a:moveTo>
                  <a:pt x="228600" y="274320"/>
                </a:moveTo>
                <a:cubicBezTo>
                  <a:pt x="246888" y="256032"/>
                  <a:pt x="256032" y="246888"/>
                  <a:pt x="274320" y="228600"/>
                </a:cubicBezTo>
                <a:lnTo>
                  <a:pt x="283464" y="237744"/>
                </a:lnTo>
                <a:cubicBezTo>
                  <a:pt x="265176" y="246888"/>
                  <a:pt x="246888" y="265176"/>
                  <a:pt x="237744" y="283464"/>
                </a:cubicBezTo>
                <a:lnTo>
                  <a:pt x="228600" y="274320"/>
                </a:lnTo>
                <a:moveTo>
                  <a:pt x="1527048" y="329184"/>
                </a:moveTo>
                <a:cubicBezTo>
                  <a:pt x="1545336" y="347472"/>
                  <a:pt x="1554480" y="365760"/>
                  <a:pt x="1572768" y="384048"/>
                </a:cubicBezTo>
                <a:lnTo>
                  <a:pt x="1563624" y="384048"/>
                </a:lnTo>
                <a:cubicBezTo>
                  <a:pt x="1545336" y="365760"/>
                  <a:pt x="1536192" y="347472"/>
                  <a:pt x="1517904" y="329184"/>
                </a:cubicBezTo>
                <a:lnTo>
                  <a:pt x="1527048" y="329184"/>
                </a:lnTo>
                <a:moveTo>
                  <a:pt x="146304" y="384048"/>
                </a:moveTo>
                <a:cubicBezTo>
                  <a:pt x="155448" y="365760"/>
                  <a:pt x="173736" y="347472"/>
                  <a:pt x="182880" y="329184"/>
                </a:cubicBezTo>
                <a:lnTo>
                  <a:pt x="192024" y="329184"/>
                </a:lnTo>
                <a:cubicBezTo>
                  <a:pt x="182880" y="347472"/>
                  <a:pt x="164592" y="365760"/>
                  <a:pt x="155448" y="384048"/>
                </a:cubicBezTo>
                <a:lnTo>
                  <a:pt x="146304" y="384048"/>
                </a:lnTo>
                <a:moveTo>
                  <a:pt x="1600200" y="438912"/>
                </a:moveTo>
                <a:cubicBezTo>
                  <a:pt x="1618488" y="457200"/>
                  <a:pt x="1627632" y="475488"/>
                  <a:pt x="1636776" y="493776"/>
                </a:cubicBezTo>
                <a:lnTo>
                  <a:pt x="1627632" y="502920"/>
                </a:lnTo>
                <a:cubicBezTo>
                  <a:pt x="1618488" y="484632"/>
                  <a:pt x="1609344" y="466344"/>
                  <a:pt x="1591056" y="438912"/>
                </a:cubicBezTo>
                <a:lnTo>
                  <a:pt x="1600200" y="438912"/>
                </a:lnTo>
                <a:moveTo>
                  <a:pt x="82296" y="493776"/>
                </a:moveTo>
                <a:cubicBezTo>
                  <a:pt x="91440" y="475488"/>
                  <a:pt x="100584" y="457200"/>
                  <a:pt x="109728" y="438912"/>
                </a:cubicBezTo>
                <a:lnTo>
                  <a:pt x="118872" y="438912"/>
                </a:lnTo>
                <a:cubicBezTo>
                  <a:pt x="109728" y="466344"/>
                  <a:pt x="100584" y="484632"/>
                  <a:pt x="91440" y="502920"/>
                </a:cubicBezTo>
                <a:lnTo>
                  <a:pt x="82296" y="493776"/>
                </a:lnTo>
                <a:moveTo>
                  <a:pt x="1664208" y="557784"/>
                </a:moveTo>
                <a:cubicBezTo>
                  <a:pt x="1664208" y="576072"/>
                  <a:pt x="1673352" y="603504"/>
                  <a:pt x="1682496" y="621792"/>
                </a:cubicBezTo>
                <a:lnTo>
                  <a:pt x="1673352" y="621792"/>
                </a:lnTo>
                <a:cubicBezTo>
                  <a:pt x="1664208" y="603504"/>
                  <a:pt x="1655064" y="585216"/>
                  <a:pt x="1645920" y="566928"/>
                </a:cubicBezTo>
                <a:lnTo>
                  <a:pt x="1664208" y="557784"/>
                </a:lnTo>
                <a:moveTo>
                  <a:pt x="27432" y="621792"/>
                </a:moveTo>
                <a:cubicBezTo>
                  <a:pt x="36576" y="603504"/>
                  <a:pt x="45720" y="576072"/>
                  <a:pt x="54864" y="557784"/>
                </a:cubicBezTo>
                <a:lnTo>
                  <a:pt x="64008" y="566928"/>
                </a:lnTo>
                <a:cubicBezTo>
                  <a:pt x="54864" y="585216"/>
                  <a:pt x="45720" y="603504"/>
                  <a:pt x="45720" y="621792"/>
                </a:cubicBezTo>
                <a:lnTo>
                  <a:pt x="27432" y="621792"/>
                </a:lnTo>
                <a:moveTo>
                  <a:pt x="1700784" y="685800"/>
                </a:moveTo>
                <a:cubicBezTo>
                  <a:pt x="1700784" y="713232"/>
                  <a:pt x="1700784" y="731520"/>
                  <a:pt x="1709928" y="758952"/>
                </a:cubicBezTo>
                <a:lnTo>
                  <a:pt x="1691640" y="758952"/>
                </a:lnTo>
                <a:cubicBezTo>
                  <a:pt x="1691640" y="731520"/>
                  <a:pt x="1691640" y="713232"/>
                  <a:pt x="1682496" y="694944"/>
                </a:cubicBezTo>
                <a:lnTo>
                  <a:pt x="1700784" y="685800"/>
                </a:lnTo>
                <a:moveTo>
                  <a:pt x="9144" y="758952"/>
                </a:moveTo>
                <a:cubicBezTo>
                  <a:pt x="9144" y="731520"/>
                  <a:pt x="9144" y="713232"/>
                  <a:pt x="18288" y="685800"/>
                </a:cubicBezTo>
                <a:lnTo>
                  <a:pt x="27432" y="694944"/>
                </a:lnTo>
                <a:cubicBezTo>
                  <a:pt x="27432" y="713232"/>
                  <a:pt x="18288" y="731520"/>
                  <a:pt x="18288" y="758952"/>
                </a:cubicBezTo>
                <a:lnTo>
                  <a:pt x="9144" y="758952"/>
                </a:lnTo>
                <a:moveTo>
                  <a:pt x="1709928" y="822960"/>
                </a:moveTo>
                <a:cubicBezTo>
                  <a:pt x="1709928" y="832104"/>
                  <a:pt x="1709928" y="841248"/>
                  <a:pt x="1709928" y="859536"/>
                </a:cubicBezTo>
                <a:cubicBezTo>
                  <a:pt x="1709928" y="868680"/>
                  <a:pt x="1709928" y="877824"/>
                  <a:pt x="1709928" y="886968"/>
                </a:cubicBezTo>
                <a:lnTo>
                  <a:pt x="1700784" y="886968"/>
                </a:lnTo>
                <a:cubicBezTo>
                  <a:pt x="1700784" y="877824"/>
                  <a:pt x="1700784" y="868680"/>
                  <a:pt x="1700784" y="859536"/>
                </a:cubicBezTo>
                <a:cubicBezTo>
                  <a:pt x="1700784" y="841248"/>
                  <a:pt x="1700784" y="832104"/>
                  <a:pt x="1700784" y="822960"/>
                </a:cubicBezTo>
                <a:lnTo>
                  <a:pt x="1709928" y="822960"/>
                </a:lnTo>
                <a:moveTo>
                  <a:pt x="0" y="859536"/>
                </a:moveTo>
                <a:cubicBezTo>
                  <a:pt x="0" y="841248"/>
                  <a:pt x="0" y="832104"/>
                  <a:pt x="0" y="822960"/>
                </a:cubicBezTo>
                <a:lnTo>
                  <a:pt x="9144" y="822960"/>
                </a:lnTo>
                <a:cubicBezTo>
                  <a:pt x="9144" y="832104"/>
                  <a:pt x="9144" y="841248"/>
                  <a:pt x="9144" y="859536"/>
                </a:cubicBezTo>
                <a:cubicBezTo>
                  <a:pt x="9144" y="868680"/>
                  <a:pt x="9144" y="877824"/>
                  <a:pt x="9144" y="886968"/>
                </a:cubicBezTo>
                <a:lnTo>
                  <a:pt x="0" y="886968"/>
                </a:lnTo>
                <a:cubicBezTo>
                  <a:pt x="0" y="877824"/>
                  <a:pt x="0" y="868680"/>
                  <a:pt x="0" y="859536"/>
                </a:cubicBezTo>
                <a:moveTo>
                  <a:pt x="1709928" y="960120"/>
                </a:moveTo>
                <a:cubicBezTo>
                  <a:pt x="1700784" y="978408"/>
                  <a:pt x="1700784" y="996696"/>
                  <a:pt x="1700784" y="1024128"/>
                </a:cubicBezTo>
                <a:lnTo>
                  <a:pt x="1682496" y="1024128"/>
                </a:lnTo>
                <a:cubicBezTo>
                  <a:pt x="1691640" y="996696"/>
                  <a:pt x="1691640" y="978408"/>
                  <a:pt x="1691640" y="950976"/>
                </a:cubicBezTo>
                <a:lnTo>
                  <a:pt x="1709928" y="960120"/>
                </a:lnTo>
                <a:moveTo>
                  <a:pt x="18288" y="1024128"/>
                </a:moveTo>
                <a:cubicBezTo>
                  <a:pt x="9144" y="996696"/>
                  <a:pt x="9144" y="978408"/>
                  <a:pt x="9144" y="960120"/>
                </a:cubicBezTo>
                <a:lnTo>
                  <a:pt x="18288" y="950976"/>
                </a:lnTo>
                <a:cubicBezTo>
                  <a:pt x="18288" y="978408"/>
                  <a:pt x="27432" y="996696"/>
                  <a:pt x="27432" y="1024128"/>
                </a:cubicBezTo>
                <a:lnTo>
                  <a:pt x="18288" y="1024128"/>
                </a:lnTo>
                <a:moveTo>
                  <a:pt x="1682496" y="1088136"/>
                </a:moveTo>
                <a:cubicBezTo>
                  <a:pt x="1673352" y="1106424"/>
                  <a:pt x="1664208" y="1133856"/>
                  <a:pt x="1664208" y="1152144"/>
                </a:cubicBezTo>
                <a:lnTo>
                  <a:pt x="1645920" y="1152144"/>
                </a:lnTo>
                <a:cubicBezTo>
                  <a:pt x="1655064" y="1124712"/>
                  <a:pt x="1664208" y="1106424"/>
                  <a:pt x="1673352" y="1088136"/>
                </a:cubicBezTo>
                <a:lnTo>
                  <a:pt x="1682496" y="1088136"/>
                </a:lnTo>
                <a:moveTo>
                  <a:pt x="54864" y="1152144"/>
                </a:moveTo>
                <a:cubicBezTo>
                  <a:pt x="45720" y="1133856"/>
                  <a:pt x="36576" y="1106424"/>
                  <a:pt x="27432" y="1088136"/>
                </a:cubicBezTo>
                <a:lnTo>
                  <a:pt x="45720" y="1088136"/>
                </a:lnTo>
                <a:cubicBezTo>
                  <a:pt x="45720" y="1106424"/>
                  <a:pt x="54864" y="1124712"/>
                  <a:pt x="64008" y="1152144"/>
                </a:cubicBezTo>
                <a:lnTo>
                  <a:pt x="54864" y="1152144"/>
                </a:lnTo>
                <a:moveTo>
                  <a:pt x="1636776" y="1216152"/>
                </a:moveTo>
                <a:cubicBezTo>
                  <a:pt x="1627632" y="1234440"/>
                  <a:pt x="1618488" y="1252728"/>
                  <a:pt x="1600200" y="1271016"/>
                </a:cubicBezTo>
                <a:lnTo>
                  <a:pt x="1591056" y="1271016"/>
                </a:lnTo>
                <a:cubicBezTo>
                  <a:pt x="1609344" y="1252728"/>
                  <a:pt x="1618488" y="1225296"/>
                  <a:pt x="1627632" y="1207008"/>
                </a:cubicBezTo>
                <a:lnTo>
                  <a:pt x="1636776" y="1216152"/>
                </a:lnTo>
                <a:moveTo>
                  <a:pt x="109728" y="1271016"/>
                </a:moveTo>
                <a:cubicBezTo>
                  <a:pt x="100584" y="1252728"/>
                  <a:pt x="91440" y="1234440"/>
                  <a:pt x="82296" y="1216152"/>
                </a:cubicBezTo>
                <a:lnTo>
                  <a:pt x="91440" y="1207008"/>
                </a:lnTo>
                <a:cubicBezTo>
                  <a:pt x="100584" y="1225296"/>
                  <a:pt x="109728" y="1252728"/>
                  <a:pt x="118872" y="1271016"/>
                </a:cubicBezTo>
                <a:lnTo>
                  <a:pt x="109728" y="1271016"/>
                </a:lnTo>
                <a:moveTo>
                  <a:pt x="1572768" y="1335024"/>
                </a:moveTo>
                <a:cubicBezTo>
                  <a:pt x="1554480" y="1353312"/>
                  <a:pt x="1545336" y="1371600"/>
                  <a:pt x="1527048" y="1389888"/>
                </a:cubicBezTo>
                <a:lnTo>
                  <a:pt x="1517904" y="1380744"/>
                </a:lnTo>
                <a:cubicBezTo>
                  <a:pt x="1536192" y="1362456"/>
                  <a:pt x="1545336" y="1344168"/>
                  <a:pt x="1563624" y="1325880"/>
                </a:cubicBezTo>
                <a:lnTo>
                  <a:pt x="1572768" y="1335024"/>
                </a:lnTo>
                <a:moveTo>
                  <a:pt x="182880" y="1389888"/>
                </a:moveTo>
                <a:cubicBezTo>
                  <a:pt x="173736" y="1371600"/>
                  <a:pt x="155448" y="1353312"/>
                  <a:pt x="146304" y="1335024"/>
                </a:cubicBezTo>
                <a:lnTo>
                  <a:pt x="155448" y="1325880"/>
                </a:lnTo>
                <a:cubicBezTo>
                  <a:pt x="164592" y="1344168"/>
                  <a:pt x="182880" y="1362456"/>
                  <a:pt x="192024" y="1380744"/>
                </a:cubicBezTo>
                <a:lnTo>
                  <a:pt x="182880" y="1389888"/>
                </a:lnTo>
                <a:moveTo>
                  <a:pt x="1481328" y="1435608"/>
                </a:moveTo>
                <a:cubicBezTo>
                  <a:pt x="1472184" y="1453896"/>
                  <a:pt x="1453896" y="1472184"/>
                  <a:pt x="1435608" y="1481328"/>
                </a:cubicBezTo>
                <a:lnTo>
                  <a:pt x="1426464" y="1472184"/>
                </a:lnTo>
                <a:cubicBezTo>
                  <a:pt x="1444752" y="1463040"/>
                  <a:pt x="1463040" y="1444752"/>
                  <a:pt x="1481328" y="1426464"/>
                </a:cubicBezTo>
                <a:lnTo>
                  <a:pt x="1481328" y="1435608"/>
                </a:lnTo>
                <a:moveTo>
                  <a:pt x="274320" y="1481328"/>
                </a:moveTo>
                <a:cubicBezTo>
                  <a:pt x="256032" y="1472184"/>
                  <a:pt x="246888" y="1453896"/>
                  <a:pt x="228600" y="1435608"/>
                </a:cubicBezTo>
                <a:lnTo>
                  <a:pt x="237744" y="1426464"/>
                </a:lnTo>
                <a:cubicBezTo>
                  <a:pt x="246888" y="1444752"/>
                  <a:pt x="265176" y="1463040"/>
                  <a:pt x="283464" y="1472184"/>
                </a:cubicBezTo>
                <a:lnTo>
                  <a:pt x="274320" y="1481328"/>
                </a:lnTo>
                <a:moveTo>
                  <a:pt x="1389888" y="1527048"/>
                </a:moveTo>
                <a:cubicBezTo>
                  <a:pt x="1371600" y="1545336"/>
                  <a:pt x="1353312" y="1554480"/>
                  <a:pt x="1335024" y="1563624"/>
                </a:cubicBezTo>
                <a:lnTo>
                  <a:pt x="1325880" y="1554480"/>
                </a:lnTo>
                <a:cubicBezTo>
                  <a:pt x="1344168" y="1545336"/>
                  <a:pt x="1362456" y="1536192"/>
                  <a:pt x="1380744" y="1517904"/>
                </a:cubicBezTo>
                <a:lnTo>
                  <a:pt x="1389888" y="1527048"/>
                </a:lnTo>
                <a:moveTo>
                  <a:pt x="384048" y="1563624"/>
                </a:moveTo>
                <a:cubicBezTo>
                  <a:pt x="365760" y="1554480"/>
                  <a:pt x="347472" y="1545336"/>
                  <a:pt x="329184" y="1527048"/>
                </a:cubicBezTo>
                <a:lnTo>
                  <a:pt x="329184" y="1517904"/>
                </a:lnTo>
                <a:cubicBezTo>
                  <a:pt x="347472" y="1536192"/>
                  <a:pt x="365760" y="1545336"/>
                  <a:pt x="384048" y="1554480"/>
                </a:cubicBezTo>
                <a:lnTo>
                  <a:pt x="384048" y="1563624"/>
                </a:lnTo>
                <a:moveTo>
                  <a:pt x="493776" y="1636776"/>
                </a:moveTo>
                <a:cubicBezTo>
                  <a:pt x="475488" y="1627632"/>
                  <a:pt x="457200" y="1609344"/>
                  <a:pt x="438912" y="1600200"/>
                </a:cubicBezTo>
                <a:lnTo>
                  <a:pt x="448056" y="1591056"/>
                </a:lnTo>
                <a:cubicBezTo>
                  <a:pt x="466344" y="1600200"/>
                  <a:pt x="484632" y="1609344"/>
                  <a:pt x="502920" y="1618488"/>
                </a:cubicBezTo>
                <a:lnTo>
                  <a:pt x="493776" y="1636776"/>
                </a:lnTo>
                <a:moveTo>
                  <a:pt x="1271016" y="1600200"/>
                </a:moveTo>
                <a:cubicBezTo>
                  <a:pt x="1252728" y="1609344"/>
                  <a:pt x="1234440" y="1627632"/>
                  <a:pt x="1216152" y="1636776"/>
                </a:cubicBezTo>
                <a:lnTo>
                  <a:pt x="1207008" y="1618488"/>
                </a:lnTo>
                <a:cubicBezTo>
                  <a:pt x="1234440" y="1609344"/>
                  <a:pt x="1252728" y="1600200"/>
                  <a:pt x="1271016" y="1591056"/>
                </a:cubicBezTo>
                <a:lnTo>
                  <a:pt x="1271016" y="1600200"/>
                </a:lnTo>
                <a:moveTo>
                  <a:pt x="621792" y="1682496"/>
                </a:moveTo>
                <a:cubicBezTo>
                  <a:pt x="603504" y="1673352"/>
                  <a:pt x="585216" y="1664208"/>
                  <a:pt x="557784" y="1655064"/>
                </a:cubicBezTo>
                <a:lnTo>
                  <a:pt x="566928" y="1645920"/>
                </a:lnTo>
                <a:cubicBezTo>
                  <a:pt x="585216" y="1655064"/>
                  <a:pt x="603504" y="1664208"/>
                  <a:pt x="630936" y="1664208"/>
                </a:cubicBezTo>
                <a:lnTo>
                  <a:pt x="621792" y="1682496"/>
                </a:lnTo>
                <a:moveTo>
                  <a:pt x="1152144" y="1655064"/>
                </a:moveTo>
                <a:cubicBezTo>
                  <a:pt x="1133856" y="1664208"/>
                  <a:pt x="1106424" y="1673352"/>
                  <a:pt x="1088136" y="1682496"/>
                </a:cubicBezTo>
                <a:lnTo>
                  <a:pt x="1088136" y="1664208"/>
                </a:lnTo>
                <a:cubicBezTo>
                  <a:pt x="1106424" y="1664208"/>
                  <a:pt x="1124712" y="1655064"/>
                  <a:pt x="1152144" y="1645920"/>
                </a:cubicBezTo>
                <a:lnTo>
                  <a:pt x="1152144" y="1655064"/>
                </a:lnTo>
                <a:moveTo>
                  <a:pt x="758952" y="1709928"/>
                </a:moveTo>
                <a:cubicBezTo>
                  <a:pt x="731520" y="1700784"/>
                  <a:pt x="713232" y="1700784"/>
                  <a:pt x="685800" y="1691640"/>
                </a:cubicBezTo>
                <a:lnTo>
                  <a:pt x="694944" y="1682496"/>
                </a:lnTo>
                <a:cubicBezTo>
                  <a:pt x="713232" y="1691640"/>
                  <a:pt x="731520" y="1691640"/>
                  <a:pt x="758952" y="1691640"/>
                </a:cubicBezTo>
                <a:lnTo>
                  <a:pt x="758952" y="1709928"/>
                </a:lnTo>
                <a:moveTo>
                  <a:pt x="1024128" y="1691640"/>
                </a:moveTo>
                <a:cubicBezTo>
                  <a:pt x="1005840" y="1700784"/>
                  <a:pt x="978408" y="1700784"/>
                  <a:pt x="960120" y="1709928"/>
                </a:cubicBezTo>
                <a:lnTo>
                  <a:pt x="960120" y="1691640"/>
                </a:lnTo>
                <a:cubicBezTo>
                  <a:pt x="978408" y="1691640"/>
                  <a:pt x="996696" y="1691640"/>
                  <a:pt x="1024128" y="1682496"/>
                </a:cubicBezTo>
                <a:lnTo>
                  <a:pt x="1024128" y="1691640"/>
                </a:lnTo>
                <a:moveTo>
                  <a:pt x="859536" y="1709928"/>
                </a:moveTo>
                <a:cubicBezTo>
                  <a:pt x="841248" y="1709928"/>
                  <a:pt x="832104" y="1709928"/>
                  <a:pt x="822960" y="1709928"/>
                </a:cubicBezTo>
                <a:lnTo>
                  <a:pt x="822960" y="1700784"/>
                </a:lnTo>
                <a:cubicBezTo>
                  <a:pt x="832104" y="1700784"/>
                  <a:pt x="841248" y="1700784"/>
                  <a:pt x="859536" y="1700784"/>
                </a:cubicBezTo>
                <a:cubicBezTo>
                  <a:pt x="868680" y="1700784"/>
                  <a:pt x="877824" y="1700784"/>
                  <a:pt x="886968" y="1700784"/>
                </a:cubicBezTo>
                <a:lnTo>
                  <a:pt x="886968" y="1709928"/>
                </a:lnTo>
                <a:cubicBezTo>
                  <a:pt x="877824" y="1709928"/>
                  <a:pt x="868680" y="1709928"/>
                  <a:pt x="859536" y="1709928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anchor="ctr" anchorCtr="0">
            <a:normAutofit/>
          </a:bodyPr>
          <a:p>
            <a:pPr algn="ctr"/>
            <a:endParaRPr lang="en-US" b="1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4" name="对象2"/>
          <p:cNvSpPr/>
          <p:nvPr>
            <p:custDataLst>
              <p:tags r:id="rId3"/>
            </p:custDataLst>
          </p:nvPr>
        </p:nvSpPr>
        <p:spPr>
          <a:xfrm>
            <a:off x="474345" y="4486275"/>
            <a:ext cx="3770948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4005072" y="0"/>
                </a:moveTo>
                <a:lnTo>
                  <a:pt x="0" y="0"/>
                </a:lnTo>
                <a:lnTo>
                  <a:pt x="0" y="1508760"/>
                </a:lnTo>
                <a:lnTo>
                  <a:pt x="4224528" y="1508760"/>
                </a:lnTo>
                <a:cubicBezTo>
                  <a:pt x="4626864" y="1508760"/>
                  <a:pt x="4956048" y="1179576"/>
                  <a:pt x="4956048" y="768096"/>
                </a:cubicBezTo>
                <a:lnTo>
                  <a:pt x="4956048" y="630936"/>
                </a:lnTo>
                <a:cubicBezTo>
                  <a:pt x="4562856" y="548640"/>
                  <a:pt x="4224528" y="320040"/>
                  <a:pt x="4005072" y="0"/>
                </a:cubicBezTo>
              </a:path>
            </a:pathLst>
          </a:custGeom>
          <a:gradFill>
            <a:gsLst>
              <a:gs pos="0">
                <a:schemeClr val="accent5">
                  <a:alpha val="10000"/>
                </a:schemeClr>
              </a:gs>
              <a:gs pos="100000">
                <a:schemeClr val="lt1">
                  <a:alpha val="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5">
                    <a:alpha val="50000"/>
                  </a:schemeClr>
                </a:gs>
              </a:gsLst>
              <a:lin ang="0" scaled="1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90170" rIns="1548130" anchor="ctr" anchorCtr="1">
            <a:normAutofit fontScale="90000" lnSpcReduction="2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Structured logging was used to record user inputs, detected intents, and chatbot responses.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对象3"/>
          <p:cNvSpPr/>
          <p:nvPr>
            <p:custDataLst>
              <p:tags r:id="rId4"/>
            </p:custDataLst>
          </p:nvPr>
        </p:nvSpPr>
        <p:spPr>
          <a:xfrm>
            <a:off x="473869" y="3265646"/>
            <a:ext cx="3003233" cy="1131570"/>
          </a:xfrm>
          <a:custGeom>
            <a:avLst/>
            <a:gdLst/>
            <a:ahLst/>
            <a:cxnLst/>
            <a:rect l="l" t="t" r="r" b="b"/>
            <a:pathLst>
              <a:path w="3931920" h="1508760">
                <a:moveTo>
                  <a:pt x="3931920" y="0"/>
                </a:moveTo>
                <a:lnTo>
                  <a:pt x="0" y="0"/>
                </a:lnTo>
                <a:lnTo>
                  <a:pt x="0" y="1508760"/>
                </a:lnTo>
                <a:lnTo>
                  <a:pt x="3931920" y="1508760"/>
                </a:lnTo>
                <a:cubicBezTo>
                  <a:pt x="3803904" y="1280160"/>
                  <a:pt x="3730752" y="1024128"/>
                  <a:pt x="3730752" y="749808"/>
                </a:cubicBezTo>
                <a:cubicBezTo>
                  <a:pt x="3730752" y="475488"/>
                  <a:pt x="3803904" y="219456"/>
                  <a:pt x="3931920" y="0"/>
                </a:cubicBezTo>
              </a:path>
            </a:pathLst>
          </a:custGeom>
          <a:gradFill>
            <a:gsLst>
              <a:gs pos="0">
                <a:schemeClr val="accent6">
                  <a:alpha val="10000"/>
                </a:schemeClr>
              </a:gs>
              <a:gs pos="100000">
                <a:schemeClr val="lt1">
                  <a:alpha val="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6">
                    <a:alpha val="50000"/>
                  </a:schemeClr>
                </a:gs>
              </a:gsLst>
              <a:lin ang="0" scaled="1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Ins="935990" anchor="ctr" anchorCtr="1">
            <a:normAutofit fontScale="8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Both systems were tested on conversational scenarios including ambiguous queries, and multi-turn conversations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1" name="对象4"/>
          <p:cNvSpPr/>
          <p:nvPr>
            <p:custDataLst>
              <p:tags r:id="rId5"/>
            </p:custDataLst>
          </p:nvPr>
        </p:nvSpPr>
        <p:spPr>
          <a:xfrm>
            <a:off x="473869" y="2058829"/>
            <a:ext cx="3771424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4224528" y="0"/>
                </a:moveTo>
                <a:cubicBezTo>
                  <a:pt x="4626864" y="0"/>
                  <a:pt x="4956048" y="329184"/>
                  <a:pt x="4956048" y="731520"/>
                </a:cubicBezTo>
                <a:lnTo>
                  <a:pt x="4956048" y="859536"/>
                </a:lnTo>
                <a:cubicBezTo>
                  <a:pt x="4553712" y="941832"/>
                  <a:pt x="4215384" y="1179576"/>
                  <a:pt x="3995928" y="1508760"/>
                </a:cubicBezTo>
                <a:lnTo>
                  <a:pt x="0" y="1508760"/>
                </a:lnTo>
                <a:lnTo>
                  <a:pt x="0" y="0"/>
                </a:lnTo>
                <a:lnTo>
                  <a:pt x="4224528" y="0"/>
                </a:lnTo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lt1">
                  <a:alpha val="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1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90170" rIns="1548130" anchor="ctr" anchorCtr="1">
            <a:normAutofit fontScale="8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The first system was a traditional rule-based chatbot using predefined patterns and scripted responses.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2" name="对象5"/>
          <p:cNvSpPr/>
          <p:nvPr>
            <p:custDataLst>
              <p:tags r:id="rId6"/>
            </p:custDataLst>
          </p:nvPr>
        </p:nvSpPr>
        <p:spPr>
          <a:xfrm>
            <a:off x="4725353" y="4486275"/>
            <a:ext cx="3957638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0" y="612648"/>
                </a:moveTo>
                <a:lnTo>
                  <a:pt x="0" y="768096"/>
                </a:lnTo>
                <a:cubicBezTo>
                  <a:pt x="0" y="1179576"/>
                  <a:pt x="329184" y="1508760"/>
                  <a:pt x="731520" y="1508760"/>
                </a:cubicBezTo>
                <a:lnTo>
                  <a:pt x="4956048" y="1508760"/>
                </a:lnTo>
                <a:lnTo>
                  <a:pt x="4956048" y="0"/>
                </a:lnTo>
                <a:lnTo>
                  <a:pt x="914400" y="0"/>
                </a:lnTo>
                <a:cubicBezTo>
                  <a:pt x="694944" y="301752"/>
                  <a:pt x="374904" y="530352"/>
                  <a:pt x="0" y="612648"/>
                </a:cubicBez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4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4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727835" numCol="1" spcCol="0" rtlCol="0" fromWordArt="0" anchor="ctr" anchorCtr="1" forceAA="0" compatLnSpc="1">
            <a:normAutofit fontScale="80000"/>
          </a:bodyPr>
          <a:p>
            <a:pPr lvl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Context management was implemented to preserve conversation history in multi-turn interactions.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3" name="对象6"/>
          <p:cNvSpPr/>
          <p:nvPr>
            <p:custDataLst>
              <p:tags r:id="rId7"/>
            </p:custDataLst>
          </p:nvPr>
        </p:nvSpPr>
        <p:spPr>
          <a:xfrm>
            <a:off x="5465921" y="3265646"/>
            <a:ext cx="3214211" cy="1131570"/>
          </a:xfrm>
          <a:custGeom>
            <a:avLst/>
            <a:gdLst/>
            <a:ahLst/>
            <a:cxnLst/>
            <a:rect l="l" t="t" r="r" b="b"/>
            <a:pathLst>
              <a:path w="3941064" h="1508760">
                <a:moveTo>
                  <a:pt x="0" y="1508760"/>
                </a:moveTo>
                <a:cubicBezTo>
                  <a:pt x="128016" y="1280160"/>
                  <a:pt x="201168" y="1024128"/>
                  <a:pt x="201168" y="749808"/>
                </a:cubicBezTo>
                <a:cubicBezTo>
                  <a:pt x="201168" y="475488"/>
                  <a:pt x="128016" y="219456"/>
                  <a:pt x="18288" y="0"/>
                </a:cubicBezTo>
                <a:lnTo>
                  <a:pt x="3941064" y="0"/>
                </a:lnTo>
                <a:lnTo>
                  <a:pt x="3941064" y="1508760"/>
                </a:lnTo>
                <a:lnTo>
                  <a:pt x="0" y="150876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3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899795" numCol="1" spcCol="0" rtlCol="0" fromWordArt="0" anchor="ctr" anchorCtr="1" forceAA="0" compatLnSpc="1">
            <a:normAutofit fontScale="90000" lnSpcReduction="20000"/>
          </a:bodyPr>
          <a:p>
            <a:pPr lvl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Sentiment analysis was integrated to detect user emotions and generate personalized responses.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4" name="对象7"/>
          <p:cNvSpPr/>
          <p:nvPr>
            <p:custDataLst>
              <p:tags r:id="rId8"/>
            </p:custDataLst>
          </p:nvPr>
        </p:nvSpPr>
        <p:spPr>
          <a:xfrm>
            <a:off x="4704398" y="2045018"/>
            <a:ext cx="3975259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731520" y="0"/>
                </a:moveTo>
                <a:cubicBezTo>
                  <a:pt x="329184" y="0"/>
                  <a:pt x="0" y="329184"/>
                  <a:pt x="0" y="731520"/>
                </a:cubicBezTo>
                <a:lnTo>
                  <a:pt x="0" y="886968"/>
                </a:lnTo>
                <a:cubicBezTo>
                  <a:pt x="384048" y="969264"/>
                  <a:pt x="713232" y="1197864"/>
                  <a:pt x="932688" y="1508760"/>
                </a:cubicBezTo>
                <a:lnTo>
                  <a:pt x="4956048" y="1508760"/>
                </a:lnTo>
                <a:lnTo>
                  <a:pt x="4956048" y="0"/>
                </a:lnTo>
                <a:lnTo>
                  <a:pt x="731520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2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727835" numCol="1" spcCol="0" rtlCol="0" fromWordArt="0" anchor="ctr" anchorCtr="1" forceAA="0" compatLnSpc="1">
            <a:normAutofit fontScale="90000" lnSpcReduction="20000"/>
          </a:bodyPr>
          <a:p>
            <a:pPr lvl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The second system was an AI-enabled chatbot developed using NLP and transformer models.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5" name="对象8"/>
          <p:cNvSpPr/>
          <p:nvPr>
            <p:custDataLst>
              <p:tags r:id="rId9"/>
            </p:custDataLst>
          </p:nvPr>
        </p:nvSpPr>
        <p:spPr>
          <a:xfrm>
            <a:off x="3408521" y="2771775"/>
            <a:ext cx="2132838" cy="2125980"/>
          </a:xfrm>
          <a:custGeom>
            <a:avLst/>
            <a:gdLst/>
            <a:ahLst/>
            <a:cxnLst/>
            <a:rect l="l" t="t" r="r" b="b"/>
            <a:pathLst>
              <a:path w="2843784" h="2834640">
                <a:moveTo>
                  <a:pt x="1417320" y="2834640"/>
                </a:moveTo>
                <a:cubicBezTo>
                  <a:pt x="2203704" y="2834640"/>
                  <a:pt x="2843784" y="2203704"/>
                  <a:pt x="2843784" y="1417320"/>
                </a:cubicBezTo>
                <a:cubicBezTo>
                  <a:pt x="2843784" y="630936"/>
                  <a:pt x="2203704" y="0"/>
                  <a:pt x="1417320" y="0"/>
                </a:cubicBezTo>
                <a:cubicBezTo>
                  <a:pt x="640080" y="0"/>
                  <a:pt x="0" y="630936"/>
                  <a:pt x="0" y="1417320"/>
                </a:cubicBezTo>
                <a:cubicBezTo>
                  <a:pt x="0" y="2203704"/>
                  <a:pt x="640080" y="2834640"/>
                  <a:pt x="1417320" y="2834640"/>
                </a:cubicBezTo>
                <a:moveTo>
                  <a:pt x="1417320" y="2459736"/>
                </a:moveTo>
                <a:cubicBezTo>
                  <a:pt x="1993392" y="2459736"/>
                  <a:pt x="2459736" y="1993392"/>
                  <a:pt x="2459736" y="1417320"/>
                </a:cubicBezTo>
                <a:cubicBezTo>
                  <a:pt x="2459736" y="841248"/>
                  <a:pt x="1993392" y="384048"/>
                  <a:pt x="1417320" y="384048"/>
                </a:cubicBezTo>
                <a:cubicBezTo>
                  <a:pt x="850392" y="384048"/>
                  <a:pt x="384048" y="841248"/>
                  <a:pt x="384048" y="1417320"/>
                </a:cubicBezTo>
                <a:cubicBezTo>
                  <a:pt x="384048" y="1993392"/>
                  <a:pt x="850392" y="2459736"/>
                  <a:pt x="1417320" y="2459736"/>
                </a:cubicBezTo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对象9"/>
          <p:cNvSpPr/>
          <p:nvPr>
            <p:custDataLst>
              <p:tags r:id="rId10"/>
            </p:custDataLst>
          </p:nvPr>
        </p:nvSpPr>
        <p:spPr>
          <a:xfrm>
            <a:off x="3504248" y="2867978"/>
            <a:ext cx="1940814" cy="1940814"/>
          </a:xfrm>
          <a:custGeom>
            <a:avLst/>
            <a:gdLst/>
            <a:ahLst/>
            <a:cxnLst/>
            <a:rect l="l" t="t" r="r" b="b"/>
            <a:pathLst>
              <a:path w="2587752" h="2587752">
                <a:moveTo>
                  <a:pt x="1289304" y="2587752"/>
                </a:moveTo>
                <a:cubicBezTo>
                  <a:pt x="2011680" y="2587752"/>
                  <a:pt x="2587752" y="2002536"/>
                  <a:pt x="2587752" y="1289304"/>
                </a:cubicBezTo>
                <a:cubicBezTo>
                  <a:pt x="2587752" y="576072"/>
                  <a:pt x="2011680" y="0"/>
                  <a:pt x="1289304" y="0"/>
                </a:cubicBezTo>
                <a:cubicBezTo>
                  <a:pt x="576072" y="0"/>
                  <a:pt x="0" y="576072"/>
                  <a:pt x="0" y="1289304"/>
                </a:cubicBezTo>
                <a:cubicBezTo>
                  <a:pt x="0" y="2002536"/>
                  <a:pt x="576072" y="2587752"/>
                  <a:pt x="1289304" y="2587752"/>
                </a:cubicBezTo>
                <a:moveTo>
                  <a:pt x="1298448" y="2231136"/>
                </a:moveTo>
                <a:cubicBezTo>
                  <a:pt x="1819656" y="2231136"/>
                  <a:pt x="2240280" y="1810512"/>
                  <a:pt x="2240280" y="1289304"/>
                </a:cubicBezTo>
                <a:cubicBezTo>
                  <a:pt x="2240280" y="768096"/>
                  <a:pt x="1819656" y="347472"/>
                  <a:pt x="1298448" y="347472"/>
                </a:cubicBezTo>
                <a:cubicBezTo>
                  <a:pt x="777240" y="347472"/>
                  <a:pt x="347472" y="768096"/>
                  <a:pt x="347472" y="1289304"/>
                </a:cubicBezTo>
                <a:cubicBezTo>
                  <a:pt x="347472" y="1810512"/>
                  <a:pt x="777240" y="2231136"/>
                  <a:pt x="1298448" y="2231136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椭圆 2"/>
          <p:cNvSpPr/>
          <p:nvPr>
            <p:custDataLst>
              <p:tags r:id="rId11"/>
            </p:custDataLst>
          </p:nvPr>
        </p:nvSpPr>
        <p:spPr>
          <a:xfrm>
            <a:off x="3209449" y="2411730"/>
            <a:ext cx="383400" cy="3834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01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sym typeface="+mn-lt"/>
            </a:endParaRPr>
          </a:p>
        </p:txBody>
      </p:sp>
      <p:sp>
        <p:nvSpPr>
          <p:cNvPr id="19" name="椭圆 4"/>
          <p:cNvSpPr/>
          <p:nvPr>
            <p:custDataLst>
              <p:tags r:id="rId12"/>
            </p:custDataLst>
          </p:nvPr>
        </p:nvSpPr>
        <p:spPr>
          <a:xfrm>
            <a:off x="2836069" y="3636169"/>
            <a:ext cx="383400" cy="383400"/>
          </a:xfrm>
          <a:prstGeom prst="ellipse">
            <a:avLst/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6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06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sym typeface="+mn-lt"/>
            </a:endParaRPr>
          </a:p>
        </p:txBody>
      </p:sp>
      <p:sp>
        <p:nvSpPr>
          <p:cNvPr id="20" name="椭圆 5"/>
          <p:cNvSpPr/>
          <p:nvPr>
            <p:custDataLst>
              <p:tags r:id="rId13"/>
            </p:custDataLst>
          </p:nvPr>
        </p:nvSpPr>
        <p:spPr>
          <a:xfrm>
            <a:off x="3209449" y="4861084"/>
            <a:ext cx="383400" cy="383400"/>
          </a:xfrm>
          <a:prstGeom prst="ellipse">
            <a:avLst/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5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05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sym typeface="+mn-lt"/>
            </a:endParaRPr>
          </a:p>
        </p:txBody>
      </p:sp>
      <p:sp>
        <p:nvSpPr>
          <p:cNvPr id="21" name="椭圆 6"/>
          <p:cNvSpPr/>
          <p:nvPr>
            <p:custDataLst>
              <p:tags r:id="rId14"/>
            </p:custDataLst>
          </p:nvPr>
        </p:nvSpPr>
        <p:spPr>
          <a:xfrm>
            <a:off x="5538311" y="2411730"/>
            <a:ext cx="383400" cy="3834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2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02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sym typeface="+mn-lt"/>
            </a:endParaRPr>
          </a:p>
        </p:txBody>
      </p:sp>
      <p:sp>
        <p:nvSpPr>
          <p:cNvPr id="22" name="椭圆 7"/>
          <p:cNvSpPr/>
          <p:nvPr>
            <p:custDataLst>
              <p:tags r:id="rId15"/>
            </p:custDataLst>
          </p:nvPr>
        </p:nvSpPr>
        <p:spPr>
          <a:xfrm>
            <a:off x="5538311" y="4861084"/>
            <a:ext cx="383400" cy="383400"/>
          </a:xfrm>
          <a:prstGeom prst="ellipse">
            <a:avLst/>
          </a:pr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4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04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sym typeface="+mn-lt"/>
            </a:endParaRPr>
          </a:p>
        </p:txBody>
      </p:sp>
      <p:sp>
        <p:nvSpPr>
          <p:cNvPr id="23" name="椭圆 9"/>
          <p:cNvSpPr/>
          <p:nvPr>
            <p:custDataLst>
              <p:tags r:id="rId16"/>
            </p:custDataLst>
          </p:nvPr>
        </p:nvSpPr>
        <p:spPr>
          <a:xfrm>
            <a:off x="5730240" y="3636169"/>
            <a:ext cx="383400" cy="383400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3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 fontScale="90000" lnSpcReduction="1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03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sym typeface="+mn-lt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159" y="0"/>
            <a:ext cx="5210618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2453657"/>
            <a:ext cx="8848151" cy="675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" y="1071880"/>
            <a:ext cx="8704580" cy="5455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sz="3400"/>
              <a:t>Benefits and Challenges</a:t>
            </a:r>
            <a:endParaRPr sz="3400"/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708707" y="3120524"/>
            <a:ext cx="3777344" cy="103955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Cost reduction and improved customer handling are major advantages.</a:t>
            </a:r>
            <a:endParaRPr 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708707" y="4365985"/>
            <a:ext cx="3777344" cy="103955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sym typeface="+mn-ea"/>
              </a:rPr>
              <a:t>Model drift and continuous retraining are also important considerations.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708707" y="1875539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  <a:sym typeface="+mn-ea"/>
              </a:rPr>
              <a:t>Integration improves response speed, automation accuracy, and operational efficiency.</a:t>
            </a:r>
            <a:endParaRPr lang="en-US" sz="14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10" name="任意多边形 27"/>
          <p:cNvSpPr/>
          <p:nvPr>
            <p:custDataLst>
              <p:tags r:id="rId5"/>
            </p:custDataLst>
          </p:nvPr>
        </p:nvSpPr>
        <p:spPr>
          <a:xfrm>
            <a:off x="4850878" y="1875539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  <a:sym typeface="+mn-ea"/>
              </a:rPr>
              <a:t>It reduces repetitive human effort and supports scalable enterprise deployment.</a:t>
            </a:r>
            <a:endParaRPr lang="en-US" sz="14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11" name="椭圆 4"/>
          <p:cNvSpPr/>
          <p:nvPr>
            <p:custDataLst>
              <p:tags r:id="rId6"/>
            </p:custDataLst>
          </p:nvPr>
        </p:nvSpPr>
        <p:spPr>
          <a:xfrm>
            <a:off x="523435" y="2151303"/>
            <a:ext cx="486107" cy="4861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椭圆 21"/>
          <p:cNvSpPr/>
          <p:nvPr>
            <p:custDataLst>
              <p:tags r:id="rId7"/>
            </p:custDataLst>
          </p:nvPr>
        </p:nvSpPr>
        <p:spPr>
          <a:xfrm>
            <a:off x="523435" y="3396288"/>
            <a:ext cx="486107" cy="48610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523435" y="4641273"/>
            <a:ext cx="486107" cy="48610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任意多边形 2"/>
          <p:cNvSpPr/>
          <p:nvPr>
            <p:custDataLst>
              <p:tags r:id="rId9"/>
            </p:custDataLst>
          </p:nvPr>
        </p:nvSpPr>
        <p:spPr>
          <a:xfrm>
            <a:off x="4851354" y="3121000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Challenges include legacy system compatibility and compliance requirements.</a:t>
            </a:r>
            <a:endParaRPr 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椭圆 28"/>
          <p:cNvSpPr/>
          <p:nvPr>
            <p:custDataLst>
              <p:tags r:id="rId10"/>
            </p:custDataLst>
          </p:nvPr>
        </p:nvSpPr>
        <p:spPr>
          <a:xfrm>
            <a:off x="4665606" y="2151303"/>
            <a:ext cx="486107" cy="486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4666083" y="3396764"/>
            <a:ext cx="486107" cy="48610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9" name="任意多边形 11"/>
          <p:cNvSpPr/>
          <p:nvPr>
            <p:custDataLst>
              <p:tags r:id="rId12"/>
            </p:custDataLst>
          </p:nvPr>
        </p:nvSpPr>
        <p:spPr>
          <a:xfrm>
            <a:off x="4851830" y="4366938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Human-AI collaboration remains essential for complex cases</a:t>
            </a:r>
            <a:endParaRPr 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椭圆 12"/>
          <p:cNvSpPr/>
          <p:nvPr>
            <p:custDataLst>
              <p:tags r:id="rId13"/>
            </p:custDataLst>
          </p:nvPr>
        </p:nvSpPr>
        <p:spPr>
          <a:xfrm>
            <a:off x="4666559" y="4642701"/>
            <a:ext cx="486107" cy="48610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06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5066" y="0"/>
            <a:ext cx="3602156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1797050"/>
            <a:ext cx="8896350" cy="3407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AI-enabled chatbot system outperforms traditional rule-based chatbots.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NLP techniques and transformer models improves response accuracy and intent recognition.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management enables better handling of multi-turn conversations.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Sentiment analysis improves personalization and user interaction quality.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logging enhances debugging, monitoring, and maintainability of the chatbot system.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contributes to building scalable, intelligent, and user-friendly conversational AI systems.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spc="0" dirty="0">
                <a:latin typeface="+mj-lt"/>
              </a:rPr>
              <a:t>Future Scope</a:t>
            </a:r>
            <a:endParaRPr lang="en-US" spc="0" dirty="0">
              <a:latin typeface="+mj-lt"/>
            </a:endParaRPr>
          </a:p>
        </p:txBody>
      </p:sp>
      <p:sp>
        <p:nvSpPr>
          <p:cNvPr id="17" name="对象6"/>
          <p:cNvSpPr/>
          <p:nvPr>
            <p:custDataLst>
              <p:tags r:id="rId2"/>
            </p:custDataLst>
          </p:nvPr>
        </p:nvSpPr>
        <p:spPr>
          <a:xfrm>
            <a:off x="3175669" y="2475472"/>
            <a:ext cx="2773815" cy="2748534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30000"/>
            </a:schemeClr>
          </a:solidFill>
        </p:spPr>
        <p:txBody>
          <a:bodyPr lIns="0" tIns="0" rIns="0" bIns="0">
            <a:noAutofit/>
          </a:bodyPr>
          <a:p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对象12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3480694" y="2786664"/>
            <a:ext cx="2164457" cy="2126583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432000" tIns="0" rIns="43200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700" b="1">
                <a:solidFill>
                  <a:schemeClr val="accent1"/>
                </a:solidFill>
                <a:latin typeface="+mj-lt"/>
                <a:sym typeface="+mn-ea"/>
              </a:rPr>
              <a:t>Future</a:t>
            </a:r>
            <a:br>
              <a:rPr lang="en-US" sz="2700" b="1">
                <a:solidFill>
                  <a:schemeClr val="accent1"/>
                </a:solidFill>
                <a:latin typeface="+mj-lt"/>
                <a:sym typeface="+mn-ea"/>
              </a:rPr>
            </a:br>
            <a:r>
              <a:rPr lang="en-US" sz="2700" b="1">
                <a:solidFill>
                  <a:schemeClr val="accent1"/>
                </a:solidFill>
                <a:latin typeface="+mj-lt"/>
                <a:sym typeface="+mn-ea"/>
              </a:rPr>
              <a:t>Scope</a:t>
            </a:r>
            <a:endParaRPr lang="en-US" sz="2700" b="1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65" name="对象1"/>
          <p:cNvSpPr/>
          <p:nvPr>
            <p:custDataLst>
              <p:tags r:id="rId4"/>
            </p:custDataLst>
          </p:nvPr>
        </p:nvSpPr>
        <p:spPr>
          <a:xfrm>
            <a:off x="729302" y="2321299"/>
            <a:ext cx="3360872" cy="949515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0"/>
                </a:moveTo>
                <a:lnTo>
                  <a:pt x="54864" y="0"/>
                </a:lnTo>
                <a:cubicBezTo>
                  <a:pt x="18288" y="0"/>
                  <a:pt x="0" y="18288"/>
                  <a:pt x="0" y="54864"/>
                </a:cubicBezTo>
                <a:lnTo>
                  <a:pt x="0" y="1216152"/>
                </a:lnTo>
                <a:cubicBezTo>
                  <a:pt x="0" y="1243584"/>
                  <a:pt x="18288" y="1271016"/>
                  <a:pt x="54864" y="1271016"/>
                </a:cubicBezTo>
                <a:lnTo>
                  <a:pt x="3447288" y="1271016"/>
                </a:lnTo>
                <a:cubicBezTo>
                  <a:pt x="3465576" y="1271016"/>
                  <a:pt x="3474720" y="1261872"/>
                  <a:pt x="3483864" y="1252728"/>
                </a:cubicBezTo>
                <a:lnTo>
                  <a:pt x="4443984" y="301752"/>
                </a:lnTo>
                <a:cubicBezTo>
                  <a:pt x="4553712" y="192024"/>
                  <a:pt x="4480560" y="0"/>
                  <a:pt x="4315968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1080135" bIns="0" anchor="ctr" anchorCtr="0">
            <a:normAutofit fontScale="7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Integration of advanced monitoring and visualization tools for chatbot performance analysis.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6" name="对象2"/>
          <p:cNvSpPr/>
          <p:nvPr>
            <p:custDataLst>
              <p:tags r:id="rId5"/>
            </p:custDataLst>
          </p:nvPr>
        </p:nvSpPr>
        <p:spPr>
          <a:xfrm>
            <a:off x="521999" y="3367302"/>
            <a:ext cx="2711435" cy="949704"/>
          </a:xfrm>
          <a:custGeom>
            <a:avLst/>
            <a:gdLst>
              <a:gd name="connsiteX0" fmla="*/ 5860 w 5860"/>
              <a:gd name="connsiteY0" fmla="*/ 29 h 2002"/>
              <a:gd name="connsiteX1" fmla="*/ 5845 w 5860"/>
              <a:gd name="connsiteY1" fmla="*/ 0 h 2002"/>
              <a:gd name="connsiteX2" fmla="*/ 0 w 5860"/>
              <a:gd name="connsiteY2" fmla="*/ 10 h 2002"/>
              <a:gd name="connsiteX3" fmla="*/ 18 w 5860"/>
              <a:gd name="connsiteY3" fmla="*/ 28 h 2002"/>
              <a:gd name="connsiteX4" fmla="*/ 37 w 5860"/>
              <a:gd name="connsiteY4" fmla="*/ 1988 h 2002"/>
              <a:gd name="connsiteX5" fmla="*/ 200 w 5860"/>
              <a:gd name="connsiteY5" fmla="*/ 2002 h 2002"/>
              <a:gd name="connsiteX6" fmla="*/ 5845 w 5860"/>
              <a:gd name="connsiteY6" fmla="*/ 2002 h 2002"/>
              <a:gd name="connsiteX7" fmla="*/ 5860 w 5860"/>
              <a:gd name="connsiteY7" fmla="*/ 1973 h 2002"/>
              <a:gd name="connsiteX8" fmla="*/ 4924 w 5860"/>
              <a:gd name="connsiteY8" fmla="*/ 1008 h 2002"/>
              <a:gd name="connsiteX9" fmla="*/ 4924 w 5860"/>
              <a:gd name="connsiteY9" fmla="*/ 979 h 2002"/>
              <a:gd name="connsiteX10" fmla="*/ 5860 w 5860"/>
              <a:gd name="connsiteY10" fmla="*/ 29 h 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0" h="2002">
                <a:moveTo>
                  <a:pt x="5860" y="29"/>
                </a:moveTo>
                <a:cubicBezTo>
                  <a:pt x="5860" y="14"/>
                  <a:pt x="5860" y="0"/>
                  <a:pt x="5845" y="0"/>
                </a:cubicBezTo>
                <a:lnTo>
                  <a:pt x="0" y="10"/>
                </a:lnTo>
                <a:cubicBezTo>
                  <a:pt x="0" y="10"/>
                  <a:pt x="18" y="28"/>
                  <a:pt x="18" y="28"/>
                </a:cubicBezTo>
                <a:lnTo>
                  <a:pt x="37" y="1988"/>
                </a:lnTo>
                <a:cubicBezTo>
                  <a:pt x="37" y="1988"/>
                  <a:pt x="200" y="2002"/>
                  <a:pt x="200" y="2002"/>
                </a:cubicBezTo>
                <a:lnTo>
                  <a:pt x="5845" y="2002"/>
                </a:lnTo>
                <a:cubicBezTo>
                  <a:pt x="5860" y="2002"/>
                  <a:pt x="5860" y="1973"/>
                  <a:pt x="5860" y="1973"/>
                </a:cubicBezTo>
                <a:lnTo>
                  <a:pt x="4924" y="1008"/>
                </a:lnTo>
                <a:cubicBezTo>
                  <a:pt x="4924" y="1008"/>
                  <a:pt x="4924" y="994"/>
                  <a:pt x="4924" y="979"/>
                </a:cubicBezTo>
                <a:lnTo>
                  <a:pt x="5860" y="29"/>
                </a:lnTo>
              </a:path>
            </a:pathLst>
          </a:custGeom>
          <a:noFill/>
          <a:ln w="12700">
            <a:gradFill>
              <a:gsLst>
                <a:gs pos="0">
                  <a:schemeClr val="accent2">
                    <a:lumMod val="20000"/>
                    <a:lumOff val="80000"/>
                    <a:alpha val="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684000" bIns="0" numCol="1" spcCol="0" rtlCol="0" fromWordArt="0" anchor="ctr" anchorCtr="0" forceAA="0" compatLnSpc="1">
            <a:normAutofit fontScale="7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Deployment of the chatbot system across larger datasets and multiple domains.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8" name="对象3"/>
          <p:cNvSpPr/>
          <p:nvPr>
            <p:custDataLst>
              <p:tags r:id="rId6"/>
            </p:custDataLst>
          </p:nvPr>
        </p:nvSpPr>
        <p:spPr>
          <a:xfrm>
            <a:off x="720764" y="4413305"/>
            <a:ext cx="3360872" cy="949515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1271016"/>
                </a:moveTo>
                <a:lnTo>
                  <a:pt x="54864" y="1271016"/>
                </a:lnTo>
                <a:cubicBezTo>
                  <a:pt x="18288" y="1271016"/>
                  <a:pt x="0" y="1243584"/>
                  <a:pt x="0" y="1216152"/>
                </a:cubicBezTo>
                <a:lnTo>
                  <a:pt x="0" y="54864"/>
                </a:lnTo>
                <a:cubicBezTo>
                  <a:pt x="0" y="18288"/>
                  <a:pt x="18288" y="0"/>
                  <a:pt x="54864" y="0"/>
                </a:cubicBezTo>
                <a:lnTo>
                  <a:pt x="3447288" y="0"/>
                </a:lnTo>
                <a:cubicBezTo>
                  <a:pt x="3465576" y="0"/>
                  <a:pt x="3474720" y="9144"/>
                  <a:pt x="3483864" y="18288"/>
                </a:cubicBezTo>
                <a:lnTo>
                  <a:pt x="4443984" y="969264"/>
                </a:lnTo>
                <a:cubicBezTo>
                  <a:pt x="4553712" y="1078992"/>
                  <a:pt x="4480560" y="1271016"/>
                  <a:pt x="4315968" y="1271016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3">
                    <a:lumMod val="20000"/>
                    <a:lumOff val="80000"/>
                    <a:alpha val="0"/>
                  </a:schemeClr>
                </a:gs>
                <a:gs pos="100000">
                  <a:schemeClr val="accent3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1080000" bIns="0" numCol="1" spcCol="0" rtlCol="0" fromWordArt="0" anchor="ctr" anchorCtr="0" forceAA="0" compatLnSpc="1">
            <a:normAutofit fontScale="8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Implementation of scalable conversational architectures for handling high user traffic.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对象8"/>
          <p:cNvSpPr/>
          <p:nvPr>
            <p:custDataLst>
              <p:tags r:id="rId7"/>
            </p:custDataLst>
          </p:nvPr>
        </p:nvSpPr>
        <p:spPr>
          <a:xfrm flipH="1">
            <a:off x="5068436" y="2324145"/>
            <a:ext cx="3360872" cy="949515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0"/>
                </a:moveTo>
                <a:lnTo>
                  <a:pt x="54864" y="0"/>
                </a:lnTo>
                <a:cubicBezTo>
                  <a:pt x="18288" y="0"/>
                  <a:pt x="0" y="18288"/>
                  <a:pt x="0" y="54864"/>
                </a:cubicBezTo>
                <a:lnTo>
                  <a:pt x="0" y="1216152"/>
                </a:lnTo>
                <a:cubicBezTo>
                  <a:pt x="0" y="1243584"/>
                  <a:pt x="18288" y="1271016"/>
                  <a:pt x="54864" y="1271016"/>
                </a:cubicBezTo>
                <a:lnTo>
                  <a:pt x="3447288" y="1271016"/>
                </a:lnTo>
                <a:cubicBezTo>
                  <a:pt x="3465576" y="1271016"/>
                  <a:pt x="3474720" y="1261872"/>
                  <a:pt x="3483864" y="1252728"/>
                </a:cubicBezTo>
                <a:lnTo>
                  <a:pt x="4443984" y="301752"/>
                </a:lnTo>
                <a:cubicBezTo>
                  <a:pt x="4553712" y="192024"/>
                  <a:pt x="4480560" y="0"/>
                  <a:pt x="4315968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4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80135" tIns="0" rIns="0" bIns="0" anchor="ctr" anchorCtr="0">
            <a:normAutofit fontScale="80000"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Performance benchmarking to optimize response time and computational efficiency.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" name="对象9"/>
          <p:cNvSpPr/>
          <p:nvPr>
            <p:custDataLst>
              <p:tags r:id="rId8"/>
            </p:custDataLst>
          </p:nvPr>
        </p:nvSpPr>
        <p:spPr>
          <a:xfrm flipH="1">
            <a:off x="5905713" y="3368725"/>
            <a:ext cx="2716280" cy="949704"/>
          </a:xfrm>
          <a:custGeom>
            <a:avLst/>
            <a:gdLst>
              <a:gd name="connsiteX0" fmla="*/ 5860 w 5860"/>
              <a:gd name="connsiteY0" fmla="*/ 29 h 2002"/>
              <a:gd name="connsiteX1" fmla="*/ 5845 w 5860"/>
              <a:gd name="connsiteY1" fmla="*/ 0 h 2002"/>
              <a:gd name="connsiteX2" fmla="*/ 0 w 5860"/>
              <a:gd name="connsiteY2" fmla="*/ 10 h 2002"/>
              <a:gd name="connsiteX3" fmla="*/ 18 w 5860"/>
              <a:gd name="connsiteY3" fmla="*/ 28 h 2002"/>
              <a:gd name="connsiteX4" fmla="*/ 37 w 5860"/>
              <a:gd name="connsiteY4" fmla="*/ 1988 h 2002"/>
              <a:gd name="connsiteX5" fmla="*/ 200 w 5860"/>
              <a:gd name="connsiteY5" fmla="*/ 2002 h 2002"/>
              <a:gd name="connsiteX6" fmla="*/ 5845 w 5860"/>
              <a:gd name="connsiteY6" fmla="*/ 2002 h 2002"/>
              <a:gd name="connsiteX7" fmla="*/ 5860 w 5860"/>
              <a:gd name="connsiteY7" fmla="*/ 1973 h 2002"/>
              <a:gd name="connsiteX8" fmla="*/ 4924 w 5860"/>
              <a:gd name="connsiteY8" fmla="*/ 1008 h 2002"/>
              <a:gd name="connsiteX9" fmla="*/ 4924 w 5860"/>
              <a:gd name="connsiteY9" fmla="*/ 979 h 2002"/>
              <a:gd name="connsiteX10" fmla="*/ 5860 w 5860"/>
              <a:gd name="connsiteY10" fmla="*/ 29 h 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0" h="2002">
                <a:moveTo>
                  <a:pt x="5860" y="29"/>
                </a:moveTo>
                <a:cubicBezTo>
                  <a:pt x="5860" y="14"/>
                  <a:pt x="5860" y="0"/>
                  <a:pt x="5845" y="0"/>
                </a:cubicBezTo>
                <a:lnTo>
                  <a:pt x="0" y="10"/>
                </a:lnTo>
                <a:cubicBezTo>
                  <a:pt x="0" y="10"/>
                  <a:pt x="18" y="28"/>
                  <a:pt x="18" y="28"/>
                </a:cubicBezTo>
                <a:lnTo>
                  <a:pt x="37" y="1988"/>
                </a:lnTo>
                <a:cubicBezTo>
                  <a:pt x="37" y="1988"/>
                  <a:pt x="200" y="2002"/>
                  <a:pt x="200" y="2002"/>
                </a:cubicBezTo>
                <a:lnTo>
                  <a:pt x="5845" y="2002"/>
                </a:lnTo>
                <a:cubicBezTo>
                  <a:pt x="5860" y="2002"/>
                  <a:pt x="5860" y="1973"/>
                  <a:pt x="5860" y="1973"/>
                </a:cubicBezTo>
                <a:lnTo>
                  <a:pt x="4924" y="1008"/>
                </a:lnTo>
                <a:cubicBezTo>
                  <a:pt x="4924" y="1008"/>
                  <a:pt x="4924" y="994"/>
                  <a:pt x="4924" y="979"/>
                </a:cubicBezTo>
                <a:lnTo>
                  <a:pt x="5860" y="29"/>
                </a:lnTo>
              </a:path>
            </a:pathLst>
          </a:custGeom>
          <a:noFill/>
          <a:ln w="12700">
            <a:gradFill>
              <a:gsLst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100000">
                  <a:schemeClr val="accent5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84000" tIns="0" rIns="0" bIns="0" numCol="1" spcCol="0" rtlCol="0" fromWordArt="0" anchor="ctr" anchorCtr="0" forceAA="0" compatLnSpc="1">
            <a:normAutofit fontScale="70000"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Application of anomaly detection techniques for identifying conversational issues.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8" name="对象10"/>
          <p:cNvSpPr/>
          <p:nvPr>
            <p:custDataLst>
              <p:tags r:id="rId9"/>
            </p:custDataLst>
          </p:nvPr>
        </p:nvSpPr>
        <p:spPr>
          <a:xfrm flipH="1">
            <a:off x="5070333" y="4413305"/>
            <a:ext cx="3360872" cy="949515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1271016"/>
                </a:moveTo>
                <a:lnTo>
                  <a:pt x="54864" y="1271016"/>
                </a:lnTo>
                <a:cubicBezTo>
                  <a:pt x="18288" y="1271016"/>
                  <a:pt x="0" y="1243584"/>
                  <a:pt x="0" y="1216152"/>
                </a:cubicBezTo>
                <a:lnTo>
                  <a:pt x="0" y="54864"/>
                </a:lnTo>
                <a:cubicBezTo>
                  <a:pt x="0" y="18288"/>
                  <a:pt x="18288" y="0"/>
                  <a:pt x="54864" y="0"/>
                </a:cubicBezTo>
                <a:lnTo>
                  <a:pt x="3447288" y="0"/>
                </a:lnTo>
                <a:cubicBezTo>
                  <a:pt x="3465576" y="0"/>
                  <a:pt x="3474720" y="9144"/>
                  <a:pt x="3483864" y="18288"/>
                </a:cubicBezTo>
                <a:lnTo>
                  <a:pt x="4443984" y="969264"/>
                </a:lnTo>
                <a:cubicBezTo>
                  <a:pt x="4553712" y="1078992"/>
                  <a:pt x="4480560" y="1271016"/>
                  <a:pt x="4315968" y="1271016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6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80135" tIns="0" rIns="0" bIns="0" numCol="1" spcCol="0" rtlCol="0" fromWordArt="0" anchor="ctr" anchorCtr="0" forceAA="0" compatLnSpc="1">
            <a:normAutofit fontScale="80000"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Further enhancement of chatbot models using improved NLP and machine learning techniques.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" name="对象11"/>
          <p:cNvSpPr/>
          <p:nvPr>
            <p:custDataLst>
              <p:tags r:id="rId10"/>
            </p:custDataLst>
          </p:nvPr>
        </p:nvSpPr>
        <p:spPr>
          <a:xfrm>
            <a:off x="3591224" y="2170921"/>
            <a:ext cx="546483" cy="54648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01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5" name="对象12"/>
          <p:cNvSpPr/>
          <p:nvPr>
            <p:custDataLst>
              <p:tags r:id="rId11"/>
            </p:custDataLst>
          </p:nvPr>
        </p:nvSpPr>
        <p:spPr>
          <a:xfrm>
            <a:off x="3569402" y="4955993"/>
            <a:ext cx="546483" cy="54648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3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03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21" name="对象13"/>
          <p:cNvSpPr/>
          <p:nvPr>
            <p:custDataLst>
              <p:tags r:id="rId12"/>
            </p:custDataLst>
          </p:nvPr>
        </p:nvSpPr>
        <p:spPr>
          <a:xfrm>
            <a:off x="2795692" y="3568913"/>
            <a:ext cx="546483" cy="54648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02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0" name="对象14"/>
          <p:cNvSpPr/>
          <p:nvPr>
            <p:custDataLst>
              <p:tags r:id="rId13"/>
            </p:custDataLst>
          </p:nvPr>
        </p:nvSpPr>
        <p:spPr>
          <a:xfrm flipH="1">
            <a:off x="5020049" y="2173768"/>
            <a:ext cx="546483" cy="54648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4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04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1" name="对象15"/>
          <p:cNvSpPr/>
          <p:nvPr>
            <p:custDataLst>
              <p:tags r:id="rId14"/>
            </p:custDataLst>
          </p:nvPr>
        </p:nvSpPr>
        <p:spPr>
          <a:xfrm flipH="1">
            <a:off x="5034755" y="4955993"/>
            <a:ext cx="546483" cy="54648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6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06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2" name="对象16"/>
          <p:cNvSpPr/>
          <p:nvPr>
            <p:custDataLst>
              <p:tags r:id="rId15"/>
            </p:custDataLst>
          </p:nvPr>
        </p:nvSpPr>
        <p:spPr>
          <a:xfrm flipH="1">
            <a:off x="5807991" y="3584567"/>
            <a:ext cx="546483" cy="546483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5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05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14161" y="2590224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8221_5*a*1"/>
  <p:tag name="KSO_WM_TEMPLATE_CATEGORY" val="diagram"/>
  <p:tag name="KSO_WM_TEMPLATE_INDEX" val="20238221"/>
  <p:tag name="KSO_WM_UNIT_LAYERLEVEL" val="1"/>
  <p:tag name="KSO_WM_TAG_VERSION" val="3.0"/>
  <p:tag name="KSO_WM_BEAUTIFY_FLAG" val="#wm#"/>
  <p:tag name="KSO_WM_DIAGRAM_GROUP_CODE" val="n1-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1"/>
  <p:tag name="KSO_WM_DIAGRAM_GROUP_CODE" val="n1-1"/>
  <p:tag name="KSO_WM_UNIT_INDEX" val="1_1_1"/>
  <p:tag name="KSO_WM_DIAGRAM_MAX_ITEMCNT" val="6"/>
  <p:tag name="KSO_WM_DIAGRAM_VIRTUALLY_FRAME" val="{&quot;height&quot;:281.3250125468732,&quot;left&quot;:37.3125,&quot;top&quot;:161.0249937265634,&quot;width&quot;:646.3875787401574}"/>
  <p:tag name="KSO_WM_UNIT_HIGHLIGHT" val="0"/>
  <p:tag name="KSO_WM_UNIT_DIAGRAM_ISNUMVISUAL" val="0"/>
  <p:tag name="KSO_WM_UNIT_ID" val="diagram20238221_5*n_h_a*1_1_1"/>
  <p:tag name="KSO_WM_TEMPLATE_INDEX" val="20238221"/>
  <p:tag name="KSO_WM_TAG_VERSION" val="3.0"/>
  <p:tag name="KSO_WM_DIAGRAM_VERSION" val="3"/>
  <p:tag name="KSO_WM_DIAGRAM_COLOR_TEXT_CAN_REMOVE" val="n"/>
  <p:tag name="KSO_WM_UNIT_ISCONTENTSTITLE" val="0"/>
  <p:tag name="KSO_WM_UNIT_ISNUMDGMTITLE" val="0"/>
  <p:tag name="KSO_WM_UNIT_NOCLEAR" val="0"/>
  <p:tag name="KSO_WM_UNIT_TYPE" val="n_h_a"/>
  <p:tag name="KSO_WM_DIAGRAM_MIN_ITEMCNT" val="2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VALUE" val="42"/>
  <p:tag name="KSO_WM_UNIT_PRESET_TEXT" val="Title"/>
  <p:tag name="KSO_WM_UNIT_TEXT_FILL_FORE_SCHEMECOLOR_INDEX" val="1"/>
  <p:tag name="KSO_WM_UNIT_TEXT_FILL_TYPE" val="1"/>
  <p:tag name="KSO_WM_UNIT_FILL_TYPE" val="3"/>
  <p:tag name="KSO_WM_UNIT_USESOURCEFORMAT_APPLY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5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4"/>
  <p:tag name="KSO_WM_DIAGRAM_GROUP_CODE" val="n1-1"/>
  <p:tag name="KSO_WM_UNIT_TYPE" val="n_h_h_f"/>
  <p:tag name="KSO_WM_UNIT_INDEX" val="1_2_5_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.8999999761581421},{&quot;brightness&quot;:0,&quot;colorType&quot;:1,&quot;foreColorIndex&quot;:2,&quot;pos&quot;:1,&quot;transparency&quot;: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9"/>
  <p:tag name="KSO_WM_UNIT_USESOURCEFORMAT_APPLY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6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96"/>
  <p:tag name="KSO_WM_DIAGRAM_GROUP_CODE" val="n1-1"/>
  <p:tag name="KSO_WM_UNIT_TYPE" val="n_h_h_f"/>
  <p:tag name="KSO_WM_UNIT_INDEX" val="1_2_6_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.8999999761581421},{&quot;brightness&quot;:0,&quot;colorType&quot;:1,&quot;foreColorIndex&quot;:2,&quot;pos&quot;:1,&quot;transparency&quot;: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10"/>
  <p:tag name="KSO_WM_UNIT_USESOURCEFORMAT_APPLY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1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4"/>
  <p:tag name="KSO_WM_DIAGRAM_GROUP_CODE" val="n1-1"/>
  <p:tag name="KSO_WM_UNIT_TYPE" val="n_h_h_f"/>
  <p:tag name="KSO_WM_UNIT_INDEX" val="1_2_1_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.8999999761581421},{&quot;brightness&quot;:0,&quot;colorType&quot;:1,&quot;foreColorIndex&quot;:2,&quot;pos&quot;:1,&quot;transparency&quot;: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4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n1-1"/>
  <p:tag name="KSO_WM_UNIT_TYPE" val="n_h_h_f"/>
  <p:tag name="KSO_WM_UNIT_INDEX" val="1_2_4_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3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n1-1"/>
  <p:tag name="KSO_WM_UNIT_TYPE" val="n_h_h_f"/>
  <p:tag name="KSO_WM_UNIT_INDEX" val="1_2_3_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2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n1-1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i*1_1_2"/>
  <p:tag name="KSO_WM_TEMPLATE_CATEGORY" val="diagram"/>
  <p:tag name="KSO_WM_TEMPLATE_INDEX" val="2023822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i*1_1_1"/>
  <p:tag name="KSO_WM_TEMPLATE_CATEGORY" val="diagram"/>
  <p:tag name="KSO_WM_TEMPLATE_INDEX" val="2023822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8221_5*n_h_h_i*1_2_1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6_1"/>
  <p:tag name="KSO_WM_UNIT_ID" val="diagram20238221_5*n_h_h_i*1_2_6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6"/>
  <p:tag name="KSO_WM_UNIT_FILL_TYPE" val="3"/>
  <p:tag name="KSO_WM_UNIT_TEXT_FILL_FORE_SCHEMECOLOR_INDEX" val="1"/>
  <p:tag name="KSO_WM_UNIT_TEXT_FILL_TYPE" val="1"/>
  <p:tag name="KSO_WM_UNIT_SHADOW_SCHEMECOLOR_INDEX" val="10"/>
  <p:tag name="KSO_WM_UNIT_USESOURCEFORMAT_APPLY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5_1"/>
  <p:tag name="KSO_WM_UNIT_ID" val="diagram20238221_5*n_h_h_i*1_2_5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3"/>
  <p:tag name="KSO_WM_UNIT_TEXT_FILL_FORE_SCHEMECOLOR_INDEX" val="1"/>
  <p:tag name="KSO_WM_UNIT_TEXT_FILL_TYPE" val="1"/>
  <p:tag name="KSO_WM_UNIT_SHADOW_SCHEMECOLOR_INDEX" val="9"/>
  <p:tag name="KSO_WM_UNIT_USESOURCEFORMAT_APPLY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8221_5*n_h_h_i*1_2_2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3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8221_5*n_h_h_i*1_2_4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3"/>
  <p:tag name="KSO_WM_UNIT_TEXT_FILL_FORE_SCHEMECOLOR_INDEX" val="1"/>
  <p:tag name="KSO_WM_UNIT_TEXT_FILL_TYPE" val="1"/>
  <p:tag name="KSO_WM_UNIT_SHADOW_SCHEMECOLOR_INDEX" val="8"/>
  <p:tag name="KSO_WM_UNIT_USESOURCEFORMAT_APPLY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8221_5*n_h_h_i*1_2_3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81.3250125468732,&quot;left&quot;:37.3125,&quot;top&quot;:161.0249937265634,&quot;width&quot;:646.3875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3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17.xml><?xml version="1.0" encoding="utf-8"?>
<p:tagLst xmlns:p="http://schemas.openxmlformats.org/presentationml/2006/main">
  <p:tag name="KSO_WM_SLIDE_ID" val="diagram20238221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8221"/>
  <p:tag name="KSO_WM_SLIDE_TYPE" val="text"/>
  <p:tag name="KSO_WM_SLIDE_SUBTYPE" val="diag"/>
  <p:tag name="KSO_WM_SLIDE_SIZE" val="861.85*375.1"/>
  <p:tag name="KSO_WM_SLIDE_POSITION" val="49.75*124.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5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5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5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5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5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5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5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5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5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5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8202_5*l_h_f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202_5*l_h_i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a"/>
  <p:tag name="KSO_WM_UNIT_INDEX" val="1"/>
  <p:tag name="KSO_WM_UNIT_ID" val="diagram20238223_3*a*1"/>
  <p:tag name="KSO_WM_TEMPLATE_CATEGORY" val="diagram"/>
  <p:tag name="KSO_WM_TEMPLATE_INDEX" val="20238223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.699999988079071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38223_5*n_h_i*1_1_3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3_5*n_h_a*1_1_1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PRESET_TEXT" val="Your title here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3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3_5*n_h_h_f*1_2_1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3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3_5*n_h_h_f*1_2_2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3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3_5*n_h_h_f*1_2_3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3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223_5*n_h_h_f*1_2_4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3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5_1"/>
  <p:tag name="KSO_WM_UNIT_ID" val="diagram20238223_5*n_h_h_f*1_2_5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LINE_FORE_SCHEMECOLOR_INDEX" val="9"/>
  <p:tag name="KSO_WM_UNIT_USESOURCEFORMAT_APPLY" val="1"/>
</p:tagLst>
</file>

<file path=ppt/tags/tag4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6_1"/>
  <p:tag name="KSO_WM_UNIT_ID" val="diagram20238223_5*n_h_h_f*1_2_6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LINE_FORE_SCHEMECOLOR_INDEX" val="10"/>
  <p:tag name="KSO_WM_UNIT_USESOURCEFORMAT_APPLY" val="1"/>
</p:tagLst>
</file>

<file path=ppt/tags/tag41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2"/>
  <p:tag name="KSO_WM_UNIT_ID" val="diagram20238223_5*n_h_h_i*1_2_1_2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2"/>
  <p:tag name="KSO_WM_UNIT_ID" val="diagram20238223_5*n_h_h_i*1_2_3_2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2"/>
  <p:tag name="KSO_WM_UNIT_ID" val="diagram20238223_5*n_h_h_i*1_2_2_2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2"/>
  <p:tag name="KSO_WM_UNIT_ID" val="diagram20238223_5*n_h_h_i*1_2_4_2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6_2"/>
  <p:tag name="KSO_WM_UNIT_ID" val="diagram20238223_5*n_h_h_i*1_2_6_2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5_2"/>
  <p:tag name="KSO_WM_UNIT_ID" val="diagram20238223_5*n_h_h_i*1_2_5_2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SPECIAL_SOURCE" val="bdnull"/>
  <p:tag name="KSO_WM_SLIDE_ID" val="diagram20238223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50.394*351.675"/>
  <p:tag name="KSO_WM_SLIDE_POSITION" val="54.8031*136.966"/>
  <p:tag name="KSO_WM_DIAGRAM_GROUP_CODE" val="n1-1"/>
  <p:tag name="KSO_WM_SLIDE_DIAGTYPE" val="n"/>
  <p:tag name="KSO_WM_TAG_VERSION" val="3.0"/>
  <p:tag name="KSO_WM_BEAUTIFY_FLAG" val="#wm#"/>
  <p:tag name="KSO_WM_TEMPLATE_CATEGORY" val="diagram"/>
  <p:tag name="KSO_WM_TEMPLATE_INDEX" val="20238223"/>
  <p:tag name="KSO_WM_SLIDE_LAYOUT" val="a_n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48.xml><?xml version="1.0" encoding="utf-8"?>
<ds:datastoreItem xmlns:ds="http://schemas.openxmlformats.org/officeDocument/2006/customXml" ds:itemID="{491DF113-39A2-46D5-BFDA-E63300A9ECAB}">
  <ds:schemaRefs/>
</ds:datastoreItem>
</file>

<file path=customXml/itemProps49.xml><?xml version="1.0" encoding="utf-8"?>
<ds:datastoreItem xmlns:ds="http://schemas.openxmlformats.org/officeDocument/2006/customXml" ds:itemID="{737ED6F0-5E4C-4CD0-9B68-9C53F925A6F7}">
  <ds:schemaRefs/>
</ds:datastoreItem>
</file>

<file path=customXml/itemProps50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3972</Words>
  <Application>WPS Presentation</Application>
  <PresentationFormat>On-screen Show (4:3)</PresentationFormat>
  <Paragraphs>159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      Problem Statement &amp; Objectives</vt:lpstr>
      <vt:lpstr>PowerPoint 演示文稿</vt:lpstr>
      <vt:lpstr>Methodology</vt:lpstr>
      <vt:lpstr>Results and Performance</vt:lpstr>
      <vt:lpstr>Benefits and Challenges</vt:lpstr>
      <vt:lpstr>Conclusion</vt:lpstr>
      <vt:lpstr>Future Scope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veerk</cp:lastModifiedBy>
  <cp:revision>2303</cp:revision>
  <dcterms:created xsi:type="dcterms:W3CDTF">2010-04-09T07:36:00Z</dcterms:created>
  <dcterms:modified xsi:type="dcterms:W3CDTF">2026-05-16T11:06:11Z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99AE20D3F9E141349ED399FA8B555B8D_13</vt:lpwstr>
  </property>
  <property fmtid="{D5CDD505-2E9C-101B-9397-08002B2CF9AE}" pid="15" name="KSOProductBuildVer">
    <vt:lpwstr>1033-12.1.0.26372</vt:lpwstr>
  </property>
</Properties>
</file>